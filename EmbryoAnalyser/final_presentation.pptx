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0" r:id="rId3"/>
    <p:sldId id="272" r:id="rId4"/>
    <p:sldId id="257" r:id="rId5"/>
    <p:sldId id="258" r:id="rId6"/>
    <p:sldId id="259" r:id="rId7"/>
    <p:sldId id="273" r:id="rId8"/>
    <p:sldId id="265" r:id="rId9"/>
    <p:sldId id="274" r:id="rId10"/>
    <p:sldId id="260" r:id="rId11"/>
    <p:sldId id="275" r:id="rId12"/>
    <p:sldId id="266" r:id="rId13"/>
    <p:sldId id="264" r:id="rId14"/>
    <p:sldId id="276" r:id="rId15"/>
    <p:sldId id="267" r:id="rId16"/>
    <p:sldId id="268" r:id="rId17"/>
    <p:sldId id="269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1492" autoAdjust="0"/>
  </p:normalViewPr>
  <p:slideViewPr>
    <p:cSldViewPr snapToGrid="0">
      <p:cViewPr varScale="1">
        <p:scale>
          <a:sx n="75" d="100"/>
          <a:sy n="75" d="100"/>
        </p:scale>
        <p:origin x="117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3B30B-C7D0-417A-A8AA-BC69232A5ED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80FE8-A3FB-4AB0-9FE4-0EEF5A694E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9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Only captures mean and variance of features, not finer details of the distribution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80FE8-A3FB-4AB0-9FE4-0EEF5A694E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972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80FE8-A3FB-4AB0-9FE4-0EEF5A694EA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80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3C209-06ED-A66A-F332-22E0175F7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9FD5E9-D669-8917-CED5-3294B3FC6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10B8D0-9DCB-8316-B207-1922AEF5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36B29D-656B-DC1C-D5DF-134ABBC0D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15671-3398-98CD-C553-EA5E3598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45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599EF-CE5A-B921-B881-76525CA7C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36F750-AA4B-2912-DBA1-D753CFD14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CBB0F4-3622-5FA2-40FD-5B237585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0DB37-ACE3-15F6-53A9-B4780DCE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CDDC3B-7C13-7726-1725-A487DEED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84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E1837-377E-A9E4-5A50-43F40939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A6E803-AC61-C26E-ACBB-F593BB8C0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2B414F-D282-D806-2289-3BDF04ED4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807EEE-F4FE-C0A6-35F0-85BD4ECB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911FEF-18C7-4F22-9101-8054F9ED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58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8D6A8-F34E-0A28-87D4-210776C1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827B7A-06F0-6820-A1F9-D0EDE7BB8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AE1BF2-1E7A-6400-F930-4A37A20C0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FAA217-65A7-D227-1328-638DBE7A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928384-19EB-930F-F588-0D7DDBD5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D239B8-4609-9115-A017-C85EC0CA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43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FA05C-932A-603B-886E-F3627A0CB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6B59DA-67AE-04B2-2703-ADCE08B82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45EAE3-8DBD-5F5E-37E6-FC82CB06B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44158A-F40B-14DD-B2E2-8532B23F6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9742ED-D665-1249-9962-BE3505B03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1666F7-D0C7-FB8B-5F90-485A1A81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671408-30C8-4BF9-98D4-25B6CBB9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F49375-4294-1040-4C52-433CFC4C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45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8FC1B-EF55-7E46-15D2-E56BD031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615EE6-C1BE-C5D3-E094-F0B20767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34752C-56D1-1689-B0E5-49CBF4EB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3FFC9-7509-CF53-2695-417D758C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4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F18457-B869-8985-8961-75A2D537D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37E747-6536-05E0-8973-621BB5D8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5D4513-4F4D-1C20-8421-F5A57AEB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42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63064-93B4-D5E3-05ED-D5691504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4B68E9-1EED-4FC2-ADA3-D42C5EADB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2B86A7-7B73-C813-F36E-477EF3BC4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2EFE4D-9461-D81A-7D68-595ADDB2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B1FD0C-3E8E-A9C8-1915-4BCFE005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0CB08D-CEB1-288C-15D0-06B1D229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75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1EAC-E646-B256-5C4E-F8E31E8B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77CD1D-D4AF-9284-628A-E17B7F7E3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FA60CE-832D-E2F0-97D2-4CE499579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273E25-27BC-73CC-B962-2778EF43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E7B327-B7D9-FD79-61D3-95B84FA3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6D2CE6-1803-2EB5-4C74-E20FE018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40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2A929-AD36-A9A0-3A03-02B78641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8554F7-30BC-A029-35F5-55C370E72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8C5C53-D7B6-13D0-97AA-0A3566BE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87C478-6FBE-3B61-DDFC-7B0A77628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99CBF-E614-50AF-CE6E-8B1169B0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48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D904D4-9745-38C4-E3C4-1449148B9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800F2A-C6E1-514F-EC9F-21E621BB5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5DC02-33E7-4265-8EBC-C5F69BCA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30B3D-98E4-255C-2E58-ECCBFA97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755D85-CD2B-9E05-8838-EB53FF4C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60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0679E3-F5ED-2DBC-42F5-8791473E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DD5D1C-EFA2-01E4-6EE4-5493B833B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9EDF99-8BA0-3872-C0ED-B35DB445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948E0-DB2F-4DF9-A2FD-08F1E592D21E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797D48-1C74-A754-B6ED-FD8880850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17C9C2-E2DD-4A72-1AD0-FE7932CF3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BAA64A-4E81-48F1-83DA-F54457607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27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E61EB65-1957-F359-D586-E459C7399ED5}"/>
              </a:ext>
            </a:extLst>
          </p:cNvPr>
          <p:cNvSpPr txBox="1"/>
          <p:nvPr/>
        </p:nvSpPr>
        <p:spPr>
          <a:xfrm>
            <a:off x="1750142" y="1303430"/>
            <a:ext cx="8691716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/>
              <a:t>A Simplified Image Analysis Pipeline 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/>
              <a:t>for Detecting sidekick Mutant Phenotypes 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/>
              <a:t>in Drosophila Gastrulation</a:t>
            </a:r>
          </a:p>
          <a:p>
            <a:pPr algn="ctr">
              <a:lnSpc>
                <a:spcPct val="150000"/>
              </a:lnSpc>
            </a:pPr>
            <a:endParaRPr lang="en-US" altLang="zh-CN" dirty="0"/>
          </a:p>
          <a:p>
            <a:pPr algn="ctr"/>
            <a:r>
              <a:rPr lang="en-US" altLang="zh-CN" dirty="0"/>
              <a:t>2026-8-12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4694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62596F-CD16-16CB-A592-44DC29709730}"/>
              </a:ext>
            </a:extLst>
          </p:cNvPr>
          <p:cNvSpPr txBox="1"/>
          <p:nvPr/>
        </p:nvSpPr>
        <p:spPr>
          <a:xfrm>
            <a:off x="436880" y="411308"/>
            <a:ext cx="209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Sidekick (</a:t>
            </a:r>
            <a:r>
              <a:rPr lang="en-US" altLang="zh-CN" sz="2400" dirty="0" err="1"/>
              <a:t>Sdk</a:t>
            </a:r>
            <a:r>
              <a:rPr lang="en-US" altLang="zh-CN" sz="2400" dirty="0"/>
              <a:t>):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64CC94-B289-9D4F-98AA-5235FAF54E3D}"/>
              </a:ext>
            </a:extLst>
          </p:cNvPr>
          <p:cNvSpPr txBox="1"/>
          <p:nvPr/>
        </p:nvSpPr>
        <p:spPr>
          <a:xfrm>
            <a:off x="711200" y="1779901"/>
            <a:ext cx="11274362" cy="420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Sdk</a:t>
            </a:r>
            <a:r>
              <a:rPr lang="en-US" altLang="zh-CN" dirty="0"/>
              <a:t> is a membrane protein with a </a:t>
            </a:r>
            <a:r>
              <a:rPr lang="en-US" altLang="zh-CN" b="1" dirty="0"/>
              <a:t>small intercellular domain </a:t>
            </a:r>
            <a:r>
              <a:rPr lang="en-US" altLang="zh-CN" dirty="0"/>
              <a:t>and a </a:t>
            </a:r>
            <a:r>
              <a:rPr lang="en-US" altLang="zh-CN" b="1" dirty="0"/>
              <a:t>massive extracellular domain</a:t>
            </a:r>
            <a:r>
              <a:rPr lang="en-US" altLang="zh-CN" dirty="0"/>
              <a:t>, which also localizes to </a:t>
            </a:r>
            <a:r>
              <a:rPr lang="en-US" altLang="zh-CN" b="1" dirty="0"/>
              <a:t>tricellular</a:t>
            </a:r>
            <a:r>
              <a:rPr lang="en-US" altLang="zh-CN" dirty="0"/>
              <a:t> junctions at the level of </a:t>
            </a:r>
            <a:r>
              <a:rPr lang="en-US" altLang="zh-CN" b="1" dirty="0"/>
              <a:t>the </a:t>
            </a:r>
            <a:r>
              <a:rPr lang="en-US" altLang="zh-CN" b="1" dirty="0" err="1"/>
              <a:t>adheren</a:t>
            </a:r>
            <a:r>
              <a:rPr lang="en-US" altLang="zh-CN" b="1" dirty="0"/>
              <a:t> junction.</a:t>
            </a:r>
          </a:p>
          <a:p>
            <a:pPr>
              <a:lnSpc>
                <a:spcPct val="150000"/>
              </a:lnSpc>
            </a:pP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The purpose of </a:t>
            </a:r>
            <a:r>
              <a:rPr lang="en-US" altLang="zh-CN" dirty="0" err="1"/>
              <a:t>Sdk</a:t>
            </a:r>
            <a:r>
              <a:rPr lang="en-US" altLang="zh-CN" dirty="0"/>
              <a:t> protein is presumed to be facilitating T1 transitions and promoting convergent elongation during GBE.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sdk</a:t>
            </a:r>
            <a:r>
              <a:rPr lang="en-US" altLang="zh-CN" dirty="0"/>
              <a:t> mutants demonstrate a very subtle phenotype; these mutants are viable, and their mutant phenotype is time-dependent.</a:t>
            </a:r>
          </a:p>
          <a:p>
            <a:pPr>
              <a:lnSpc>
                <a:spcPct val="150000"/>
              </a:lnSpc>
            </a:pPr>
            <a:endParaRPr lang="en-US" altLang="zh-CN" b="1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832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378D93-A428-E926-7285-115371627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7" r="13580"/>
          <a:stretch>
            <a:fillRect/>
          </a:stretch>
        </p:blipFill>
        <p:spPr>
          <a:xfrm>
            <a:off x="3836763" y="508133"/>
            <a:ext cx="6313171" cy="30160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C3E3006-2E77-E341-FD6C-75BC82887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8"/>
          <a:stretch>
            <a:fillRect/>
          </a:stretch>
        </p:blipFill>
        <p:spPr>
          <a:xfrm>
            <a:off x="2627559" y="4031359"/>
            <a:ext cx="8284375" cy="23185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8C32347-465E-0DCF-DB71-36986EACB769}"/>
              </a:ext>
            </a:extLst>
          </p:cNvPr>
          <p:cNvSpPr txBox="1"/>
          <p:nvPr/>
        </p:nvSpPr>
        <p:spPr>
          <a:xfrm>
            <a:off x="690786" y="1554479"/>
            <a:ext cx="117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Stage 7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D994F-BA9A-224B-4BC5-17A0679A163E}"/>
              </a:ext>
            </a:extLst>
          </p:cNvPr>
          <p:cNvSpPr txBox="1"/>
          <p:nvPr/>
        </p:nvSpPr>
        <p:spPr>
          <a:xfrm>
            <a:off x="690786" y="4959780"/>
            <a:ext cx="117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Stage 8</a:t>
            </a:r>
          </a:p>
        </p:txBody>
      </p:sp>
    </p:spTree>
    <p:extLst>
      <p:ext uri="{BB962C8B-B14F-4D97-AF65-F5344CB8AC3E}">
        <p14:creationId xmlns:p14="http://schemas.microsoft.com/office/powerpoint/2010/main" val="1389893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E2DDA0F-235E-9C37-E179-AC592A5B4505}"/>
              </a:ext>
            </a:extLst>
          </p:cNvPr>
          <p:cNvSpPr txBox="1"/>
          <p:nvPr/>
        </p:nvSpPr>
        <p:spPr>
          <a:xfrm>
            <a:off x="318510" y="502949"/>
            <a:ext cx="334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Data pre-processing: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947B42-FB44-15B2-2B22-D4168E12D17F}"/>
              </a:ext>
            </a:extLst>
          </p:cNvPr>
          <p:cNvSpPr txBox="1"/>
          <p:nvPr/>
        </p:nvSpPr>
        <p:spPr>
          <a:xfrm>
            <a:off x="318510" y="1405219"/>
            <a:ext cx="687733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 dirty="0" err="1"/>
              <a:t>Synchronisation</a:t>
            </a:r>
            <a:r>
              <a:rPr lang="en-US" altLang="zh-CN" sz="2000" dirty="0"/>
              <a:t>: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 timepoint (time of first cell division)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		     (ii) EM orientation 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		     (iii) ROI</a:t>
            </a:r>
          </a:p>
          <a:p>
            <a:endParaRPr lang="en-US" altLang="zh-CN" sz="2000" b="1" dirty="0"/>
          </a:p>
          <a:p>
            <a:endParaRPr lang="en-US" altLang="zh-CN" sz="2000" dirty="0"/>
          </a:p>
          <a:p>
            <a:r>
              <a:rPr lang="en-US" altLang="zh-CN" sz="2000" dirty="0"/>
              <a:t>2.   </a:t>
            </a:r>
            <a:r>
              <a:rPr lang="en-US" altLang="zh-CN" sz="2000" dirty="0" err="1"/>
              <a:t>Croping</a:t>
            </a:r>
            <a:r>
              <a:rPr lang="en-US" altLang="zh-CN" sz="2000" dirty="0"/>
              <a:t> and segmentation (using </a:t>
            </a:r>
            <a:r>
              <a:rPr lang="en-US" altLang="zh-CN" sz="2000" dirty="0" err="1"/>
              <a:t>cellpose</a:t>
            </a:r>
            <a:r>
              <a:rPr lang="en-US" altLang="zh-CN" sz="2000" dirty="0"/>
              <a:t>)</a:t>
            </a:r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sz="16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8DEC034-CBF4-4EA7-E142-1E049202DF95}"/>
              </a:ext>
            </a:extLst>
          </p:cNvPr>
          <p:cNvGrpSpPr/>
          <p:nvPr/>
        </p:nvGrpSpPr>
        <p:grpSpPr>
          <a:xfrm>
            <a:off x="6754762" y="904127"/>
            <a:ext cx="4857135" cy="2015707"/>
            <a:chOff x="6808840" y="1437034"/>
            <a:chExt cx="4601495" cy="1846925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96706DE-BEC0-5EA6-DFA4-F00C130680C0}"/>
                </a:ext>
              </a:extLst>
            </p:cNvPr>
            <p:cNvGrpSpPr/>
            <p:nvPr/>
          </p:nvGrpSpPr>
          <p:grpSpPr>
            <a:xfrm>
              <a:off x="6808840" y="1437034"/>
              <a:ext cx="4601495" cy="613252"/>
              <a:chOff x="6808840" y="1437034"/>
              <a:chExt cx="4601495" cy="613252"/>
            </a:xfrm>
          </p:grpSpPr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9B07BFF4-5214-349B-D430-495F79011D37}"/>
                  </a:ext>
                </a:extLst>
              </p:cNvPr>
              <p:cNvCxnSpPr/>
              <p:nvPr/>
            </p:nvCxnSpPr>
            <p:spPr>
              <a:xfrm>
                <a:off x="7226710" y="1809136"/>
                <a:ext cx="3628103" cy="0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7C7BCFD-A9B9-E765-F471-2B6EE04F11DC}"/>
                  </a:ext>
                </a:extLst>
              </p:cNvPr>
              <p:cNvSpPr txBox="1"/>
              <p:nvPr/>
            </p:nvSpPr>
            <p:spPr>
              <a:xfrm>
                <a:off x="6808840" y="1680954"/>
                <a:ext cx="5309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A</a:t>
                </a:r>
                <a:endParaRPr lang="zh-CN" altLang="en-US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563330B-9AC9-D2DB-F598-5263F6AA2FB9}"/>
                  </a:ext>
                </a:extLst>
              </p:cNvPr>
              <p:cNvSpPr txBox="1"/>
              <p:nvPr/>
            </p:nvSpPr>
            <p:spPr>
              <a:xfrm>
                <a:off x="11007212" y="1680954"/>
                <a:ext cx="4031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</a:t>
                </a:r>
                <a:endParaRPr lang="zh-CN" altLang="en-US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3CBDFED-0EAF-AB8F-946F-BD651621F771}"/>
                  </a:ext>
                </a:extLst>
              </p:cNvPr>
              <p:cNvSpPr txBox="1"/>
              <p:nvPr/>
            </p:nvSpPr>
            <p:spPr>
              <a:xfrm>
                <a:off x="8761754" y="1437034"/>
                <a:ext cx="15436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midline</a:t>
                </a:r>
                <a:endParaRPr lang="zh-CN" altLang="en-US" dirty="0"/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185798A-E3BA-31E9-5CD1-B221DFB3A4EB}"/>
                </a:ext>
              </a:extLst>
            </p:cNvPr>
            <p:cNvSpPr/>
            <p:nvPr/>
          </p:nvSpPr>
          <p:spPr>
            <a:xfrm>
              <a:off x="7846143" y="2172926"/>
              <a:ext cx="2359742" cy="111103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ROI</a:t>
              </a:r>
              <a:endParaRPr lang="zh-CN" altLang="en-US" dirty="0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7C12FD98-1081-8787-04A8-1DE982D59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67" y="4079737"/>
            <a:ext cx="3980465" cy="220405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1B63C8C-BAB4-C83E-EADB-347746A9C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49" y="4079737"/>
            <a:ext cx="3937968" cy="2204059"/>
          </a:xfrm>
          <a:prstGeom prst="rect">
            <a:avLst/>
          </a:prstGeom>
        </p:spPr>
      </p:pic>
      <p:sp>
        <p:nvSpPr>
          <p:cNvPr id="18" name="箭头: 下 17">
            <a:extLst>
              <a:ext uri="{FF2B5EF4-FFF2-40B4-BE49-F238E27FC236}">
                <a16:creationId xmlns:a16="http://schemas.microsoft.com/office/drawing/2014/main" id="{21E2BB13-D743-1EA3-D041-9CC9C47D79FC}"/>
              </a:ext>
            </a:extLst>
          </p:cNvPr>
          <p:cNvSpPr/>
          <p:nvPr/>
        </p:nvSpPr>
        <p:spPr>
          <a:xfrm rot="16200000">
            <a:off x="5751871" y="4601494"/>
            <a:ext cx="560439" cy="737424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414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8A71B5-4C56-71D9-A83D-2DFDE2CD107F}"/>
              </a:ext>
            </a:extLst>
          </p:cNvPr>
          <p:cNvSpPr txBox="1"/>
          <p:nvPr/>
        </p:nvSpPr>
        <p:spPr>
          <a:xfrm>
            <a:off x="286630" y="957306"/>
            <a:ext cx="4549529" cy="143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altLang="zh-CN" sz="2000" dirty="0"/>
              <a:t>Create masks (for </a:t>
            </a:r>
            <a:r>
              <a:rPr lang="en-US" altLang="zh-CN" sz="2000" dirty="0" err="1"/>
              <a:t>ShapeEmbedLite</a:t>
            </a:r>
            <a:r>
              <a:rPr lang="en-US" altLang="zh-CN" sz="2000" dirty="0"/>
              <a:t>),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and take geometric measurements 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of each cell (for other models)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65CD18-ECFB-BD41-D2DC-EB8F079F4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274" y="762517"/>
            <a:ext cx="3269226" cy="1789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94875F2-266F-9D79-00F1-5BC094371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615" y="780989"/>
            <a:ext cx="3201754" cy="17530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1D48039-857B-E4AD-FBA1-82E08C0AC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32" y="3375786"/>
            <a:ext cx="11611597" cy="255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90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60E82A5-8FFF-581F-9009-3FA08D4969B0}"/>
              </a:ext>
            </a:extLst>
          </p:cNvPr>
          <p:cNvSpPr txBox="1"/>
          <p:nvPr/>
        </p:nvSpPr>
        <p:spPr>
          <a:xfrm>
            <a:off x="165511" y="88054"/>
            <a:ext cx="2890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Training models:</a:t>
            </a:r>
            <a:endParaRPr lang="en-US" altLang="zh-CN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FAAF18-7EE5-E0B6-F486-7FF86FCF8FA2}"/>
              </a:ext>
            </a:extLst>
          </p:cNvPr>
          <p:cNvSpPr txBox="1"/>
          <p:nvPr/>
        </p:nvSpPr>
        <p:spPr>
          <a:xfrm>
            <a:off x="271370" y="611274"/>
            <a:ext cx="289068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 err="1"/>
              <a:t>ShapeEmbedLite</a:t>
            </a: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E74F48-1E6F-7D0B-D9E6-C9BA49BEFCD2}"/>
              </a:ext>
            </a:extLst>
          </p:cNvPr>
          <p:cNvSpPr txBox="1"/>
          <p:nvPr/>
        </p:nvSpPr>
        <p:spPr>
          <a:xfrm>
            <a:off x="777240" y="1489498"/>
            <a:ext cx="7032707" cy="3277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u="sng" dirty="0"/>
              <a:t>Working principal: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/>
              <a:t>every cell shape is input as a distance matrix.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/>
              <a:t>The model calculates the feature vectors for each matrix, and learns a normal distribution around each feature vector.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/>
              <a:t>A distance matrix is reconstructed from the mean feature vectors, which is compared with the test distance matrix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4AAD7F-0284-A336-21D6-225C2C8FD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718" y="1201307"/>
            <a:ext cx="4204282" cy="402363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1E55A91-B429-3244-3338-C608C5F4DF91}"/>
              </a:ext>
            </a:extLst>
          </p:cNvPr>
          <p:cNvSpPr txBox="1"/>
          <p:nvPr/>
        </p:nvSpPr>
        <p:spPr>
          <a:xfrm>
            <a:off x="777240" y="5198864"/>
            <a:ext cx="10927080" cy="96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u="sng" dirty="0"/>
              <a:t>Motivation: 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see if there is a general difference in cell shape between control and mutant embryos</a:t>
            </a:r>
          </a:p>
        </p:txBody>
      </p:sp>
    </p:spTree>
    <p:extLst>
      <p:ext uri="{BB962C8B-B14F-4D97-AF65-F5344CB8AC3E}">
        <p14:creationId xmlns:p14="http://schemas.microsoft.com/office/powerpoint/2010/main" val="320671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8A645C-360B-AFE2-4DBE-A67D4E386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17" y="2798062"/>
            <a:ext cx="5114554" cy="36872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1ABAF9-4A80-C018-3C10-0A9C1FCCC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031" y="667718"/>
            <a:ext cx="6522252" cy="17637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4EA265-B720-63D0-4E0F-DC5B5D9C2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664" y="2509093"/>
            <a:ext cx="6431609" cy="410016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A04F04C-66B6-4AD8-1EF4-DB7FCA750058}"/>
              </a:ext>
            </a:extLst>
          </p:cNvPr>
          <p:cNvSpPr txBox="1"/>
          <p:nvPr/>
        </p:nvSpPr>
        <p:spPr>
          <a:xfrm>
            <a:off x="1188720" y="959542"/>
            <a:ext cx="99568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i="1" u="sng" dirty="0"/>
              <a:t>Result: </a:t>
            </a:r>
          </a:p>
        </p:txBody>
      </p:sp>
    </p:spTree>
    <p:extLst>
      <p:ext uri="{BB962C8B-B14F-4D97-AF65-F5344CB8AC3E}">
        <p14:creationId xmlns:p14="http://schemas.microsoft.com/office/powerpoint/2010/main" val="325916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C2F11D2-0C85-D58D-F063-28A8D899C6DD}"/>
              </a:ext>
            </a:extLst>
          </p:cNvPr>
          <p:cNvSpPr txBox="1"/>
          <p:nvPr/>
        </p:nvSpPr>
        <p:spPr>
          <a:xfrm>
            <a:off x="3962400" y="0"/>
            <a:ext cx="4267200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Data Cleaning for RF and SVM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5169FB-61AA-77D7-7718-F1FCC54B07FB}"/>
              </a:ext>
            </a:extLst>
          </p:cNvPr>
          <p:cNvSpPr txBox="1"/>
          <p:nvPr/>
        </p:nvSpPr>
        <p:spPr>
          <a:xfrm>
            <a:off x="579120" y="698839"/>
            <a:ext cx="695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  Discard irrelevant and redundant features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E75103-AA38-682A-03C8-26AA546EFD44}"/>
              </a:ext>
            </a:extLst>
          </p:cNvPr>
          <p:cNvSpPr txBox="1"/>
          <p:nvPr/>
        </p:nvSpPr>
        <p:spPr>
          <a:xfrm>
            <a:off x="579120" y="500619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(ii) Focus on severely deformed cells only</a:t>
            </a: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C562CA-7665-FDBB-D489-15CCDA851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989" y="5575153"/>
            <a:ext cx="7288342" cy="95947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B2759CE-BAB2-40D4-B19C-7D5691649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91" y="1159596"/>
            <a:ext cx="4659869" cy="3696883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901E2EF-835F-18FC-37E4-844104435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300600"/>
              </p:ext>
            </p:extLst>
          </p:nvPr>
        </p:nvGraphicFramePr>
        <p:xfrm>
          <a:off x="5618480" y="1451696"/>
          <a:ext cx="6167120" cy="2953680"/>
        </p:xfrm>
        <a:graphic>
          <a:graphicData uri="http://schemas.openxmlformats.org/drawingml/2006/table">
            <a:tbl>
              <a:tblPr/>
              <a:tblGrid>
                <a:gridCol w="1233424">
                  <a:extLst>
                    <a:ext uri="{9D8B030D-6E8A-4147-A177-3AD203B41FA5}">
                      <a16:colId xmlns:a16="http://schemas.microsoft.com/office/drawing/2014/main" val="4177055975"/>
                    </a:ext>
                  </a:extLst>
                </a:gridCol>
                <a:gridCol w="1233424">
                  <a:extLst>
                    <a:ext uri="{9D8B030D-6E8A-4147-A177-3AD203B41FA5}">
                      <a16:colId xmlns:a16="http://schemas.microsoft.com/office/drawing/2014/main" val="2664768861"/>
                    </a:ext>
                  </a:extLst>
                </a:gridCol>
                <a:gridCol w="1233424">
                  <a:extLst>
                    <a:ext uri="{9D8B030D-6E8A-4147-A177-3AD203B41FA5}">
                      <a16:colId xmlns:a16="http://schemas.microsoft.com/office/drawing/2014/main" val="2993242717"/>
                    </a:ext>
                  </a:extLst>
                </a:gridCol>
                <a:gridCol w="1233424">
                  <a:extLst>
                    <a:ext uri="{9D8B030D-6E8A-4147-A177-3AD203B41FA5}">
                      <a16:colId xmlns:a16="http://schemas.microsoft.com/office/drawing/2014/main" val="3007918731"/>
                    </a:ext>
                  </a:extLst>
                </a:gridCol>
                <a:gridCol w="1233424">
                  <a:extLst>
                    <a:ext uri="{9D8B030D-6E8A-4147-A177-3AD203B41FA5}">
                      <a16:colId xmlns:a16="http://schemas.microsoft.com/office/drawing/2014/main" val="3971256951"/>
                    </a:ext>
                  </a:extLst>
                </a:gridCol>
              </a:tblGrid>
              <a:tr h="590736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Circ.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895199"/>
                  </a:ext>
                </a:extLst>
              </a:tr>
              <a:tr h="590736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0.021386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0.148395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0.019079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252901"/>
                  </a:ext>
                </a:extLst>
              </a:tr>
              <a:tr h="590736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0.021386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1.000000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0.082805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0.062577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45741"/>
                  </a:ext>
                </a:extLst>
              </a:tr>
              <a:tr h="590736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Circ.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0.148395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0.082805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0.558872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02546"/>
                  </a:ext>
                </a:extLst>
              </a:tr>
              <a:tr h="590736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0.019079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0.062577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0.558872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1.000000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737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704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51773A9-1135-DDF1-21AF-B9490E4AE8D4}"/>
              </a:ext>
            </a:extLst>
          </p:cNvPr>
          <p:cNvSpPr txBox="1"/>
          <p:nvPr/>
        </p:nvSpPr>
        <p:spPr>
          <a:xfrm>
            <a:off x="985520" y="196637"/>
            <a:ext cx="3404870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Plot Feature Distribution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FD5E07-29AB-B474-5CDD-5FDB5131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399" y="3424211"/>
            <a:ext cx="6807199" cy="33778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A3070B-84A6-2219-8363-097210CE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46374"/>
            <a:ext cx="6807200" cy="33778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AB25EE-2297-2E73-2051-B208C7AC3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01" y="3852809"/>
            <a:ext cx="4438923" cy="25886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6CEF312-5883-56A0-1B1F-B0EB262D1B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08" y="1229066"/>
            <a:ext cx="4355307" cy="219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3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BCABF39-5DFD-5D3C-FDD8-71406FF1C929}"/>
              </a:ext>
            </a:extLst>
          </p:cNvPr>
          <p:cNvSpPr txBox="1"/>
          <p:nvPr/>
        </p:nvSpPr>
        <p:spPr>
          <a:xfrm>
            <a:off x="390495" y="406181"/>
            <a:ext cx="2748946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zh-CN" sz="2400" dirty="0"/>
              <a:t>Random Forest</a:t>
            </a:r>
          </a:p>
        </p:txBody>
      </p:sp>
      <p:pic>
        <p:nvPicPr>
          <p:cNvPr id="5" name="图片 4" descr="Decision Tree vs Random Forest | Which Is Right for You?">
            <a:extLst>
              <a:ext uri="{FF2B5EF4-FFF2-40B4-BE49-F238E27FC236}">
                <a16:creationId xmlns:a16="http://schemas.microsoft.com/office/drawing/2014/main" id="{B076CF56-FA23-B52D-D714-35DCDB55B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822" y="2103120"/>
            <a:ext cx="5691572" cy="38558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A5C150F-9E6F-7E2C-D5E4-317B5A64C8A6}"/>
              </a:ext>
            </a:extLst>
          </p:cNvPr>
          <p:cNvSpPr txBox="1"/>
          <p:nvPr/>
        </p:nvSpPr>
        <p:spPr>
          <a:xfrm>
            <a:off x="60606" y="1779687"/>
            <a:ext cx="62687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i="1" u="sng" dirty="0"/>
              <a:t>working principal: 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1.  the forest is composed of </a:t>
            </a:r>
            <a:r>
              <a:rPr lang="en-US" altLang="zh-CN" sz="2000" b="1" dirty="0"/>
              <a:t>decision trees</a:t>
            </a:r>
          </a:p>
          <a:p>
            <a:pPr lvl="1">
              <a:lnSpc>
                <a:spcPct val="150000"/>
              </a:lnSpc>
            </a:pP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2.  every node on the tree asks ‘yes-or-no’ questions about the dataset, splitting it into 2 branches. This is done recursively until a certain depth is reached.</a:t>
            </a:r>
          </a:p>
          <a:p>
            <a:pPr lvl="1">
              <a:lnSpc>
                <a:spcPct val="150000"/>
              </a:lnSpc>
            </a:pP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3.  all the trees take a majority vote to make the prediction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145B9F-578F-6B2C-9A72-B3C03F6764F2}"/>
              </a:ext>
            </a:extLst>
          </p:cNvPr>
          <p:cNvSpPr txBox="1"/>
          <p:nvPr/>
        </p:nvSpPr>
        <p:spPr>
          <a:xfrm>
            <a:off x="1239520" y="1023172"/>
            <a:ext cx="9712960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u="sng" dirty="0"/>
              <a:t>Motivation</a:t>
            </a:r>
            <a:r>
              <a:rPr lang="zh-CN" altLang="en-US" sz="2000" dirty="0"/>
              <a:t>：</a:t>
            </a:r>
            <a:r>
              <a:rPr lang="en-US" altLang="zh-CN" sz="2000" dirty="0"/>
              <a:t>see if a </a:t>
            </a:r>
            <a:r>
              <a:rPr lang="en-US" altLang="zh-CN" sz="2000" dirty="0" err="1"/>
              <a:t>RandomForest</a:t>
            </a:r>
            <a:r>
              <a:rPr lang="en-US" altLang="zh-CN" sz="2000" dirty="0"/>
              <a:t> can capture this difference in feature distribution</a:t>
            </a:r>
          </a:p>
        </p:txBody>
      </p:sp>
    </p:spTree>
    <p:extLst>
      <p:ext uri="{BB962C8B-B14F-4D97-AF65-F5344CB8AC3E}">
        <p14:creationId xmlns:p14="http://schemas.microsoft.com/office/powerpoint/2010/main" val="1971259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AEDF39-73D4-F4B0-EFB0-CA08115D1724}"/>
              </a:ext>
            </a:extLst>
          </p:cNvPr>
          <p:cNvSpPr txBox="1"/>
          <p:nvPr/>
        </p:nvSpPr>
        <p:spPr>
          <a:xfrm>
            <a:off x="1239520" y="796380"/>
            <a:ext cx="9712960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u="sng" dirty="0"/>
              <a:t>Motivation</a:t>
            </a:r>
            <a:r>
              <a:rPr lang="zh-CN" altLang="en-US" sz="2000" dirty="0"/>
              <a:t>：</a:t>
            </a:r>
            <a:r>
              <a:rPr lang="en-US" altLang="zh-CN" sz="2000" dirty="0"/>
              <a:t>see if a </a:t>
            </a:r>
            <a:r>
              <a:rPr lang="en-US" altLang="zh-CN" sz="2000" dirty="0" err="1"/>
              <a:t>RandomForest</a:t>
            </a:r>
            <a:r>
              <a:rPr lang="en-US" altLang="zh-CN" sz="2000" dirty="0"/>
              <a:t> can capture this difference in feature distribution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A005CBA-4DFF-C485-13B2-6CD39FDFD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657554"/>
              </p:ext>
            </p:extLst>
          </p:nvPr>
        </p:nvGraphicFramePr>
        <p:xfrm>
          <a:off x="0" y="2820145"/>
          <a:ext cx="11944728" cy="2553204"/>
        </p:xfrm>
        <a:graphic>
          <a:graphicData uri="http://schemas.openxmlformats.org/drawingml/2006/table">
            <a:tbl>
              <a:tblPr/>
              <a:tblGrid>
                <a:gridCol w="519336">
                  <a:extLst>
                    <a:ext uri="{9D8B030D-6E8A-4147-A177-3AD203B41FA5}">
                      <a16:colId xmlns:a16="http://schemas.microsoft.com/office/drawing/2014/main" val="2033145047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138094475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601912347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827599418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180541680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1424661795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2566907354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3942271058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449839658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3128753169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2979429689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379640276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2605733300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780783745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1355443401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3531329648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1402619032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736107477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890905185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2827145731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2983124784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3975434023"/>
                    </a:ext>
                  </a:extLst>
                </a:gridCol>
                <a:gridCol w="519336">
                  <a:extLst>
                    <a:ext uri="{9D8B030D-6E8A-4147-A177-3AD203B41FA5}">
                      <a16:colId xmlns:a16="http://schemas.microsoft.com/office/drawing/2014/main" val="874217015"/>
                    </a:ext>
                  </a:extLst>
                </a:gridCol>
              </a:tblGrid>
              <a:tr h="945384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Area_bin_0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Area_bin_1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Area_bin_2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Area_bin_3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Area_bin_4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Area_bin_5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Area_bin_6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Area_bin_7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Area_bin_8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Area_bin_9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Solidity_bin_6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Solidity_bin_9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735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 dirty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75169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13.529412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24.117647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21.176471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8.823529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8.823529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6.470588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4.705882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1.176471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0.588235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1.764706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3.529412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4.705882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10.00000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15.882353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24.117647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21.764706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13.529412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2.941176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0.588235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21826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3.524229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18.502203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28.193833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26.872247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12.775330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3.524229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2.202643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2.202643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0.440529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0.881057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1.762115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4.405286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9.251101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12.77533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11.894273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25.550661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16.740088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8.810573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3.524229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0.440529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66317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78D1149-DC3C-BC74-1A15-FF3376F9162E}"/>
              </a:ext>
            </a:extLst>
          </p:cNvPr>
          <p:cNvSpPr txBox="1"/>
          <p:nvPr/>
        </p:nvSpPr>
        <p:spPr>
          <a:xfrm>
            <a:off x="1239520" y="2052320"/>
            <a:ext cx="960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For every embryo,  every one of its feature distributions is binned and concatenated.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19886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6EF86C7-DE74-13A8-A02F-D847ACD08BAF}"/>
              </a:ext>
            </a:extLst>
          </p:cNvPr>
          <p:cNvSpPr txBox="1"/>
          <p:nvPr/>
        </p:nvSpPr>
        <p:spPr>
          <a:xfrm>
            <a:off x="1339627" y="1056035"/>
            <a:ext cx="1391920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i="1" u="sng" dirty="0"/>
              <a:t>Result:</a:t>
            </a:r>
            <a:endParaRPr lang="zh-CN" altLang="en-US" sz="2400" u="sng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F8173A9-5031-86DB-2E84-305E5FD68527}"/>
              </a:ext>
            </a:extLst>
          </p:cNvPr>
          <p:cNvGrpSpPr/>
          <p:nvPr/>
        </p:nvGrpSpPr>
        <p:grpSpPr>
          <a:xfrm>
            <a:off x="4683761" y="692312"/>
            <a:ext cx="7051144" cy="2535273"/>
            <a:chOff x="5272935" y="906148"/>
            <a:chExt cx="6726129" cy="2335534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E6BAAF8-06BB-419C-A60B-9E649F960194}"/>
                </a:ext>
              </a:extLst>
            </p:cNvPr>
            <p:cNvSpPr txBox="1"/>
            <p:nvPr/>
          </p:nvSpPr>
          <p:spPr>
            <a:xfrm>
              <a:off x="7306867" y="906148"/>
              <a:ext cx="2658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LeaveOneOut</a:t>
              </a:r>
              <a:r>
                <a:rPr lang="en-US" altLang="zh-CN" dirty="0"/>
                <a:t> Evaluation</a:t>
              </a:r>
              <a:endParaRPr lang="zh-CN" altLang="en-US" dirty="0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24EB7E9-8B67-FDB6-35EC-BC109127E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72935" y="1475008"/>
              <a:ext cx="6726129" cy="1766674"/>
            </a:xfrm>
            <a:prstGeom prst="rect">
              <a:avLst/>
            </a:prstGeom>
          </p:spPr>
        </p:pic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A92FFF8-F1FD-F5A8-999D-02848B016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55215"/>
              </p:ext>
            </p:extLst>
          </p:nvPr>
        </p:nvGraphicFramePr>
        <p:xfrm>
          <a:off x="163830" y="4212783"/>
          <a:ext cx="10848339" cy="1589182"/>
        </p:xfrm>
        <a:graphic>
          <a:graphicData uri="http://schemas.openxmlformats.org/drawingml/2006/table">
            <a:tbl>
              <a:tblPr/>
              <a:tblGrid>
                <a:gridCol w="1205371">
                  <a:extLst>
                    <a:ext uri="{9D8B030D-6E8A-4147-A177-3AD203B41FA5}">
                      <a16:colId xmlns:a16="http://schemas.microsoft.com/office/drawing/2014/main" val="153668052"/>
                    </a:ext>
                  </a:extLst>
                </a:gridCol>
                <a:gridCol w="1205371">
                  <a:extLst>
                    <a:ext uri="{9D8B030D-6E8A-4147-A177-3AD203B41FA5}">
                      <a16:colId xmlns:a16="http://schemas.microsoft.com/office/drawing/2014/main" val="1594551258"/>
                    </a:ext>
                  </a:extLst>
                </a:gridCol>
                <a:gridCol w="1205371">
                  <a:extLst>
                    <a:ext uri="{9D8B030D-6E8A-4147-A177-3AD203B41FA5}">
                      <a16:colId xmlns:a16="http://schemas.microsoft.com/office/drawing/2014/main" val="2650212512"/>
                    </a:ext>
                  </a:extLst>
                </a:gridCol>
                <a:gridCol w="1205371">
                  <a:extLst>
                    <a:ext uri="{9D8B030D-6E8A-4147-A177-3AD203B41FA5}">
                      <a16:colId xmlns:a16="http://schemas.microsoft.com/office/drawing/2014/main" val="4155997567"/>
                    </a:ext>
                  </a:extLst>
                </a:gridCol>
                <a:gridCol w="1205371">
                  <a:extLst>
                    <a:ext uri="{9D8B030D-6E8A-4147-A177-3AD203B41FA5}">
                      <a16:colId xmlns:a16="http://schemas.microsoft.com/office/drawing/2014/main" val="3256003793"/>
                    </a:ext>
                  </a:extLst>
                </a:gridCol>
                <a:gridCol w="1205371">
                  <a:extLst>
                    <a:ext uri="{9D8B030D-6E8A-4147-A177-3AD203B41FA5}">
                      <a16:colId xmlns:a16="http://schemas.microsoft.com/office/drawing/2014/main" val="3959009726"/>
                    </a:ext>
                  </a:extLst>
                </a:gridCol>
                <a:gridCol w="1205371">
                  <a:extLst>
                    <a:ext uri="{9D8B030D-6E8A-4147-A177-3AD203B41FA5}">
                      <a16:colId xmlns:a16="http://schemas.microsoft.com/office/drawing/2014/main" val="855909331"/>
                    </a:ext>
                  </a:extLst>
                </a:gridCol>
                <a:gridCol w="1205371">
                  <a:extLst>
                    <a:ext uri="{9D8B030D-6E8A-4147-A177-3AD203B41FA5}">
                      <a16:colId xmlns:a16="http://schemas.microsoft.com/office/drawing/2014/main" val="3368764994"/>
                    </a:ext>
                  </a:extLst>
                </a:gridCol>
                <a:gridCol w="1205371">
                  <a:extLst>
                    <a:ext uri="{9D8B030D-6E8A-4147-A177-3AD203B41FA5}">
                      <a16:colId xmlns:a16="http://schemas.microsoft.com/office/drawing/2014/main" val="3468574893"/>
                    </a:ext>
                  </a:extLst>
                </a:gridCol>
              </a:tblGrid>
              <a:tr h="79459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zh-CN" sz="975" b="1" i="0">
                        <a:effectLst/>
                        <a:latin typeface="system-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Area_bin_1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Area_bin_2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Angle_bin_3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Angle_bin_4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Angle_bin_7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Angle_bin_9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 dirty="0">
                          <a:effectLst/>
                          <a:latin typeface="system-ui"/>
                        </a:rPr>
                        <a:t>Angle_bin_10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Solidity_bin_10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823823"/>
                  </a:ext>
                </a:extLst>
              </a:tr>
              <a:tr h="79459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1" i="0">
                          <a:effectLst/>
                          <a:latin typeface="system-ui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5.60568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10.502969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20.122807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8.877193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6.0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>
                          <a:effectLst/>
                          <a:latin typeface="system-ui"/>
                        </a:rPr>
                        <a:t>6.754386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zh-CN" sz="975" b="0" i="0" dirty="0">
                          <a:effectLst/>
                          <a:latin typeface="system-ui"/>
                        </a:rPr>
                        <a:t>4.974583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7471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CC1EE30-DE67-5B81-783D-33E3DF3DFB9C}"/>
              </a:ext>
            </a:extLst>
          </p:cNvPr>
          <p:cNvSpPr txBox="1"/>
          <p:nvPr/>
        </p:nvSpPr>
        <p:spPr>
          <a:xfrm>
            <a:off x="5003800" y="3738730"/>
            <a:ext cx="218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Most Important Bins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26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B3B1B8E-84E0-4043-52FF-CB1B7DEA7886}"/>
              </a:ext>
            </a:extLst>
          </p:cNvPr>
          <p:cNvSpPr txBox="1"/>
          <p:nvPr/>
        </p:nvSpPr>
        <p:spPr>
          <a:xfrm>
            <a:off x="564456" y="380904"/>
            <a:ext cx="1345624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zh-CN" sz="2400" dirty="0"/>
              <a:t>SVM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3FF0F6-64F8-78CC-87DC-0DE3EDCAB95D}"/>
              </a:ext>
            </a:extLst>
          </p:cNvPr>
          <p:cNvSpPr txBox="1"/>
          <p:nvPr/>
        </p:nvSpPr>
        <p:spPr>
          <a:xfrm>
            <a:off x="-152400" y="1717040"/>
            <a:ext cx="5852160" cy="462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i="1" dirty="0"/>
              <a:t>	</a:t>
            </a:r>
            <a:r>
              <a:rPr lang="en-US" altLang="zh-CN" i="1" u="sng" dirty="0"/>
              <a:t>Motivation</a:t>
            </a:r>
            <a:r>
              <a:rPr lang="zh-CN" altLang="en-US" dirty="0"/>
              <a:t>：</a:t>
            </a:r>
            <a:r>
              <a:rPr lang="en-US" altLang="zh-CN" dirty="0"/>
              <a:t>SVM may give a better decision 	boundary than </a:t>
            </a:r>
            <a:r>
              <a:rPr lang="en-US" altLang="zh-CN" dirty="0" err="1"/>
              <a:t>RandomForest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i="1" u="sng" dirty="0"/>
              <a:t>Working Principal:</a:t>
            </a:r>
            <a:r>
              <a:rPr lang="en-US" altLang="zh-CN" dirty="0"/>
              <a:t>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	1.  Binning allows us to convert each embryo 	into a high-dimensional vector   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2.  draws a line that best separates controls 	from mutants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3DA689-1E1A-B78D-39E6-64828D6D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79232"/>
            <a:ext cx="53244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43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9C2A38-2765-1672-4D73-525BCB786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29" y="2425340"/>
            <a:ext cx="5276098" cy="41422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279372-8015-F8D8-737C-53C55B7A4244}"/>
              </a:ext>
            </a:extLst>
          </p:cNvPr>
          <p:cNvSpPr txBox="1"/>
          <p:nvPr/>
        </p:nvSpPr>
        <p:spPr>
          <a:xfrm>
            <a:off x="967490" y="519024"/>
            <a:ext cx="13208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i="1" u="sng" dirty="0"/>
              <a:t>Result: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880B2E-3C17-F441-826B-B51CCEFD4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774" y="2486579"/>
            <a:ext cx="5166370" cy="414224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56712B28-9000-7758-DB98-5AEF9AFFE347}"/>
              </a:ext>
            </a:extLst>
          </p:cNvPr>
          <p:cNvGrpSpPr/>
          <p:nvPr/>
        </p:nvGrpSpPr>
        <p:grpSpPr>
          <a:xfrm>
            <a:off x="2430412" y="423197"/>
            <a:ext cx="9548373" cy="1679921"/>
            <a:chOff x="2694572" y="413039"/>
            <a:chExt cx="9548373" cy="167992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024B64E-C950-24DE-F448-2E2253D20B31}"/>
                </a:ext>
              </a:extLst>
            </p:cNvPr>
            <p:cNvSpPr txBox="1"/>
            <p:nvPr/>
          </p:nvSpPr>
          <p:spPr>
            <a:xfrm>
              <a:off x="2694572" y="1098899"/>
              <a:ext cx="26191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LeaveOneOut</a:t>
              </a:r>
              <a:r>
                <a:rPr lang="en-US" altLang="zh-CN" dirty="0"/>
                <a:t> Evaluation</a:t>
              </a:r>
              <a:endParaRPr lang="zh-CN" altLang="en-US" dirty="0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B80A98F-A00A-10CB-6039-130FB0D27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7925" y="413039"/>
              <a:ext cx="6645020" cy="16799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8184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853803-561C-1CE5-0C2D-13D8F77BC61C}"/>
              </a:ext>
            </a:extLst>
          </p:cNvPr>
          <p:cNvSpPr txBox="1"/>
          <p:nvPr/>
        </p:nvSpPr>
        <p:spPr>
          <a:xfrm>
            <a:off x="558800" y="467360"/>
            <a:ext cx="523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/>
              <a:t>Testing on E-</a:t>
            </a:r>
            <a:r>
              <a:rPr lang="en-US" altLang="zh-CN" sz="2400" b="1" i="1" dirty="0" err="1"/>
              <a:t>CadGFP</a:t>
            </a:r>
            <a:r>
              <a:rPr lang="en-US" altLang="zh-CN" sz="2400" b="1" i="1" dirty="0"/>
              <a:t> strains</a:t>
            </a:r>
            <a:endParaRPr lang="zh-CN" altLang="en-US" sz="2400" b="1" i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FD0A14-68D3-14AA-5B4B-4E56D0E9F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768" y="1651943"/>
            <a:ext cx="6236464" cy="177705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5690242-A3F6-7096-8F49-8FDF1C5E2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768" y="4108001"/>
            <a:ext cx="6236464" cy="168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49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24FB4EE-F8EA-080C-24BC-83723C05A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120" y="4433226"/>
            <a:ext cx="8290560" cy="20220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BA52C14-1B23-FFC6-5892-34917566F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20" y="194530"/>
            <a:ext cx="8290560" cy="411390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095CE31-E1F3-B5F2-5ACF-A862DA629821}"/>
              </a:ext>
            </a:extLst>
          </p:cNvPr>
          <p:cNvSpPr txBox="1"/>
          <p:nvPr/>
        </p:nvSpPr>
        <p:spPr>
          <a:xfrm>
            <a:off x="690880" y="2460209"/>
            <a:ext cx="2468880" cy="96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Angle Distribution for E-</a:t>
            </a:r>
            <a:r>
              <a:rPr lang="en-US" altLang="zh-CN" sz="2000" dirty="0" err="1"/>
              <a:t>CadGFP</a:t>
            </a:r>
            <a:r>
              <a:rPr lang="en-US" altLang="zh-CN" sz="2000" dirty="0"/>
              <a:t> strains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00775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861C49-6E63-0C0A-A60A-B9C6D9E28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58" y="1536093"/>
            <a:ext cx="5718802" cy="19100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8E2B5C-8665-8237-BA99-BC40F4DC3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46" y="4018640"/>
            <a:ext cx="4848225" cy="2286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5865EC4-D047-0DB7-0A61-B0244C514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292" y="1444331"/>
            <a:ext cx="5219088" cy="20018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95F836B-995A-048C-15D1-5976E05687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688" y="4015653"/>
            <a:ext cx="5041692" cy="22889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2DA66E1-5ED7-CCED-3694-79D788754A4C}"/>
              </a:ext>
            </a:extLst>
          </p:cNvPr>
          <p:cNvSpPr txBox="1"/>
          <p:nvPr/>
        </p:nvSpPr>
        <p:spPr>
          <a:xfrm>
            <a:off x="1936636" y="501961"/>
            <a:ext cx="348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E-Cad GFP controls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E82316-B61E-6081-78BB-97CBF9C6C3F5}"/>
              </a:ext>
            </a:extLst>
          </p:cNvPr>
          <p:cNvSpPr txBox="1"/>
          <p:nvPr/>
        </p:nvSpPr>
        <p:spPr>
          <a:xfrm>
            <a:off x="7636396" y="501961"/>
            <a:ext cx="348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E-Cad GFP mutants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86951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076F300-288D-1DBE-547C-64C938EBCCE4}"/>
              </a:ext>
            </a:extLst>
          </p:cNvPr>
          <p:cNvSpPr txBox="1"/>
          <p:nvPr/>
        </p:nvSpPr>
        <p:spPr>
          <a:xfrm>
            <a:off x="558800" y="467360"/>
            <a:ext cx="523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/>
              <a:t>Testing on Fixed Images</a:t>
            </a:r>
            <a:endParaRPr lang="zh-CN" altLang="en-US" sz="2400" b="1" i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233293-19A7-1BE1-C822-9AC85E5B6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42" y="555568"/>
            <a:ext cx="3363076" cy="526436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E9CD23-5D4C-34A6-A1A2-BE8A45207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120" y="555568"/>
            <a:ext cx="3618358" cy="35155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2533893-735F-0ECD-A2E2-1F5A326D59C3}"/>
              </a:ext>
            </a:extLst>
          </p:cNvPr>
          <p:cNvSpPr txBox="1"/>
          <p:nvPr/>
        </p:nvSpPr>
        <p:spPr>
          <a:xfrm>
            <a:off x="558800" y="1468048"/>
            <a:ext cx="3759200" cy="378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Most embryos appear to be WT-like, which is agreed by both models.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Certain sdk5054 embryos show a visible mutant pattern.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i="1" u="sng" dirty="0"/>
              <a:t>A reasonable conclusion: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s7 is too early and s8 too late for the mutant phenotype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164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641EF58-C1C0-17CB-81FB-FA722F93D6BC}"/>
              </a:ext>
            </a:extLst>
          </p:cNvPr>
          <p:cNvSpPr txBox="1"/>
          <p:nvPr/>
        </p:nvSpPr>
        <p:spPr>
          <a:xfrm>
            <a:off x="599440" y="361295"/>
            <a:ext cx="3535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Clustering Test: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DA54D0-8F14-5D24-2EC6-5E9EE98CF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42" y="1833444"/>
            <a:ext cx="11558916" cy="378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59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9D9DE0-1321-FDC4-0886-9D6597A65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358"/>
            <a:ext cx="12154931" cy="56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11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ED3074-A888-73DA-C8B9-43129644955A}"/>
              </a:ext>
            </a:extLst>
          </p:cNvPr>
          <p:cNvSpPr txBox="1"/>
          <p:nvPr/>
        </p:nvSpPr>
        <p:spPr>
          <a:xfrm>
            <a:off x="508000" y="416560"/>
            <a:ext cx="3545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Neighbour</a:t>
            </a:r>
            <a:r>
              <a:rPr lang="en-US" altLang="zh-CN" sz="2400" dirty="0"/>
              <a:t> Counting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D6957C-53A1-D96F-76B1-49CACCD2637C}"/>
              </a:ext>
            </a:extLst>
          </p:cNvPr>
          <p:cNvSpPr txBox="1"/>
          <p:nvPr/>
        </p:nvSpPr>
        <p:spPr>
          <a:xfrm>
            <a:off x="1203960" y="1050167"/>
            <a:ext cx="9784080" cy="143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Method 1: enlarge the cell boundary, and see how many (white) cell areas it encircles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 algn="ctr">
              <a:lnSpc>
                <a:spcPct val="150000"/>
              </a:lnSpc>
            </a:pPr>
            <a:r>
              <a:rPr lang="en-US" altLang="zh-CN" sz="2000" dirty="0"/>
              <a:t>Benefit: fast		Drawback: overestimation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886A22-EAAD-2759-49AF-CAC3DBC51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63" y="3008010"/>
            <a:ext cx="2443537" cy="38499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A91F46-EDF8-B357-A5B4-8852829EC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3545122"/>
            <a:ext cx="2443537" cy="23689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D6A720-FE89-2AA4-C651-96D3CE3A4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543" y="2846142"/>
            <a:ext cx="2728921" cy="37578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18349E3-17BD-F7FB-D918-A29873BFA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545122"/>
            <a:ext cx="2728921" cy="215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99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507920E-E5A0-E73D-9873-45D925536945}"/>
              </a:ext>
            </a:extLst>
          </p:cNvPr>
          <p:cNvSpPr txBox="1"/>
          <p:nvPr/>
        </p:nvSpPr>
        <p:spPr>
          <a:xfrm>
            <a:off x="1203960" y="194970"/>
            <a:ext cx="9784080" cy="96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Method 2: 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/>
              <a:t>Plot a centroid graph and a boundary graph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CFC0D3-0D81-E352-67A3-849E096D4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20" y="4010660"/>
            <a:ext cx="10842498" cy="21259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9B3F42-CCA5-F4F9-A47B-798739CB7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40" y="1615798"/>
            <a:ext cx="9908400" cy="194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95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C58FA98-D97A-F7CB-915A-AD9422586BC8}"/>
              </a:ext>
            </a:extLst>
          </p:cNvPr>
          <p:cNvSpPr txBox="1"/>
          <p:nvPr/>
        </p:nvSpPr>
        <p:spPr>
          <a:xfrm>
            <a:off x="538480" y="403369"/>
            <a:ext cx="11490960" cy="2815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US" altLang="zh-CN" sz="2000" dirty="0"/>
              <a:t>Enlarge cell boundary on the centroid graph. Cells that have their centroid enclosed are potential </a:t>
            </a:r>
            <a:r>
              <a:rPr lang="en-US" altLang="zh-CN" sz="2000" dirty="0" err="1"/>
              <a:t>neighbours</a:t>
            </a:r>
            <a:endParaRPr lang="en-US" altLang="zh-CN" sz="2000" dirty="0"/>
          </a:p>
          <a:p>
            <a:pPr marL="457200" indent="-457200">
              <a:lnSpc>
                <a:spcPct val="150000"/>
              </a:lnSpc>
              <a:buFontTx/>
              <a:buAutoNum type="arabicPeriod" startAt="2"/>
            </a:pPr>
            <a:r>
              <a:rPr lang="en-US" altLang="zh-CN" sz="2000" dirty="0"/>
              <a:t>Draw a line between the central centroid and every close centroid, and check how many times it passes through cell boundary</a:t>
            </a:r>
          </a:p>
          <a:p>
            <a:pPr marL="457200" indent="-457200">
              <a:lnSpc>
                <a:spcPct val="150000"/>
              </a:lnSpc>
              <a:buFontTx/>
              <a:buAutoNum type="arabicPeriod" startAt="2"/>
            </a:pPr>
            <a:endParaRPr lang="en-US" altLang="zh-CN" sz="2000" dirty="0"/>
          </a:p>
          <a:p>
            <a:pPr algn="ctr">
              <a:lnSpc>
                <a:spcPct val="150000"/>
              </a:lnSpc>
            </a:pPr>
            <a:r>
              <a:rPr lang="en-US" altLang="zh-CN" sz="2000" dirty="0"/>
              <a:t>Benefit: accurate		Drawback: slow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C0EF25-21DE-8F6F-98A0-4E29F850A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16" y="3949051"/>
            <a:ext cx="3198486" cy="22698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F192F1F-F4D0-2CDA-F097-0990343AB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503" y="3941846"/>
            <a:ext cx="2869005" cy="22770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270F82E-B461-A661-7B90-89512C794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917" y="3941846"/>
            <a:ext cx="3025295" cy="25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48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BD447AB-F907-DD52-FCE9-9B60FF84F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372"/>
          <a:stretch>
            <a:fillRect/>
          </a:stretch>
        </p:blipFill>
        <p:spPr>
          <a:xfrm>
            <a:off x="3008267" y="321595"/>
            <a:ext cx="4154533" cy="603856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14F26E1-2EAF-C1F6-EFC3-3FA3061C92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827"/>
          <a:stretch>
            <a:fillRect/>
          </a:stretch>
        </p:blipFill>
        <p:spPr>
          <a:xfrm>
            <a:off x="7249613" y="297428"/>
            <a:ext cx="4292147" cy="606273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DD0646-68DF-B9F6-EB4A-6947D31A65A6}"/>
              </a:ext>
            </a:extLst>
          </p:cNvPr>
          <p:cNvSpPr txBox="1"/>
          <p:nvPr/>
        </p:nvSpPr>
        <p:spPr>
          <a:xfrm>
            <a:off x="650240" y="487679"/>
            <a:ext cx="187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yw</a:t>
            </a:r>
            <a:r>
              <a:rPr lang="en-US" altLang="zh-CN" sz="2400" dirty="0"/>
              <a:t> </a:t>
            </a:r>
          </a:p>
          <a:p>
            <a:r>
              <a:rPr lang="en-US" altLang="zh-CN" sz="2400" dirty="0" err="1"/>
              <a:t>neighbour</a:t>
            </a:r>
            <a:r>
              <a:rPr lang="en-US" altLang="zh-CN" sz="2400" dirty="0"/>
              <a:t> distribution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86864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37EE8D6-0E73-DCBB-8096-07894223EB5E}"/>
              </a:ext>
            </a:extLst>
          </p:cNvPr>
          <p:cNvSpPr txBox="1"/>
          <p:nvPr/>
        </p:nvSpPr>
        <p:spPr>
          <a:xfrm>
            <a:off x="322134" y="518159"/>
            <a:ext cx="187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sdk5054</a:t>
            </a:r>
          </a:p>
          <a:p>
            <a:r>
              <a:rPr lang="en-US" altLang="zh-CN" sz="2400" dirty="0" err="1"/>
              <a:t>neighbour</a:t>
            </a:r>
            <a:r>
              <a:rPr lang="en-US" altLang="zh-CN" sz="2400" dirty="0"/>
              <a:t> distribution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29D403-6857-5835-77D8-16228D457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301"/>
          <a:stretch>
            <a:fillRect/>
          </a:stretch>
        </p:blipFill>
        <p:spPr>
          <a:xfrm>
            <a:off x="2201734" y="998504"/>
            <a:ext cx="4567515" cy="52607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2E00CE1-EE3E-A5E0-7DE5-78A46AC43F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483"/>
          <a:stretch>
            <a:fillRect/>
          </a:stretch>
        </p:blipFill>
        <p:spPr>
          <a:xfrm>
            <a:off x="7334021" y="887398"/>
            <a:ext cx="4680774" cy="537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81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F4F5EBA-7550-FE2C-C7EF-EBDCDEB8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458" y="93636"/>
            <a:ext cx="4580061" cy="66707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1209DB8-DB28-7E03-B7B9-44619EBE521A}"/>
              </a:ext>
            </a:extLst>
          </p:cNvPr>
          <p:cNvSpPr txBox="1"/>
          <p:nvPr/>
        </p:nvSpPr>
        <p:spPr>
          <a:xfrm>
            <a:off x="8683014" y="467359"/>
            <a:ext cx="187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del15</a:t>
            </a:r>
          </a:p>
          <a:p>
            <a:r>
              <a:rPr lang="en-US" altLang="zh-CN" sz="2400" dirty="0" err="1"/>
              <a:t>neighbour</a:t>
            </a:r>
            <a:r>
              <a:rPr lang="en-US" altLang="zh-CN" sz="2400" dirty="0"/>
              <a:t> distribution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6EDE0D-9403-C1D3-49AC-AC4452272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389" y="1955693"/>
            <a:ext cx="4849170" cy="310917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3A57DC6-FDBD-C0DA-3C67-21AABB0D93BE}"/>
              </a:ext>
            </a:extLst>
          </p:cNvPr>
          <p:cNvSpPr txBox="1"/>
          <p:nvPr/>
        </p:nvSpPr>
        <p:spPr>
          <a:xfrm>
            <a:off x="235777" y="172719"/>
            <a:ext cx="187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del7</a:t>
            </a:r>
          </a:p>
          <a:p>
            <a:r>
              <a:rPr lang="en-US" altLang="zh-CN" sz="2400" dirty="0" err="1"/>
              <a:t>neighbour</a:t>
            </a:r>
            <a:r>
              <a:rPr lang="en-US" altLang="zh-CN" sz="2400" dirty="0"/>
              <a:t> distribution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21568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1511</Words>
  <Application>Microsoft Office PowerPoint</Application>
  <PresentationFormat>宽屏</PresentationFormat>
  <Paragraphs>207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system-ui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Wang</dc:creator>
  <cp:lastModifiedBy>Ethan Wang</cp:lastModifiedBy>
  <cp:revision>211</cp:revision>
  <dcterms:created xsi:type="dcterms:W3CDTF">2026-07-20T14:56:16Z</dcterms:created>
  <dcterms:modified xsi:type="dcterms:W3CDTF">2026-08-12T16:56:51Z</dcterms:modified>
</cp:coreProperties>
</file>